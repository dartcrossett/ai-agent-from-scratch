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9" autoAdjust="0"/>
    <p:restoredTop sz="94748" autoAdjust="0"/>
  </p:normalViewPr>
  <p:slideViewPr>
    <p:cSldViewPr snapToGrid="0" snapToObjects="1">
      <p:cViewPr varScale="1">
        <p:scale>
          <a:sx n="151" d="100"/>
          <a:sy n="151" d="100"/>
        </p:scale>
        <p:origin x="216" y="10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B9285D-80A0-D4C9-D893-4B49ECF2145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AU" sz="1507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293022"/>
            <a:ext cx="8218932" cy="15676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007061"/>
            <a:ext cx="8218932" cy="1314450"/>
          </a:xfrm>
        </p:spPr>
        <p:txBody>
          <a:bodyPr>
            <a:normAutofit/>
          </a:bodyPr>
          <a:lstStyle>
            <a:lvl1pPr marL="0" indent="0" algn="l" defTabSz="642974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charset="0"/>
              <a:buNone/>
              <a:defRPr lang="en-US" sz="3200" b="0" i="0" kern="1200" dirty="0">
                <a:solidFill>
                  <a:schemeClr val="bg1"/>
                </a:solidFill>
                <a:latin typeface="National 2" charset="0"/>
                <a:ea typeface="National 2" charset="0"/>
                <a:cs typeface="National 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7500D-3A40-9F91-2740-7BBF636E6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599"/>
            <a:ext cx="272301" cy="278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DF6A4C-863A-0D96-E528-FF9FA8E24F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02068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559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3907"/>
            <a:ext cx="8229600" cy="29807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E2FA5-A0E0-A72A-4F11-CBE5F93E1B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6E9D24-C462-D04B-6296-BDE90E95B1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A38B29-E046-FFC8-24FD-000F9117DBA2}"/>
              </a:ext>
            </a:extLst>
          </p:cNvPr>
          <p:cNvSpPr/>
          <p:nvPr userDrawn="1"/>
        </p:nvSpPr>
        <p:spPr>
          <a:xfrm>
            <a:off x="3" y="0"/>
            <a:ext cx="9143997" cy="51435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1A883E-FBC7-BF0B-EA74-667707D936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024913" y="674269"/>
            <a:ext cx="1469800" cy="38513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6034087" cy="1021556"/>
          </a:xfrm>
        </p:spPr>
        <p:txBody>
          <a:bodyPr anchor="t"/>
          <a:lstStyle>
            <a:lvl1pPr algn="l">
              <a:defRPr sz="3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6034087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AC5D9-D4C7-E6E3-FAF9-73DBE039AF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599"/>
            <a:ext cx="272301" cy="278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50936-0924-9AE6-C0F7-37F0669ED6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2068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645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20078"/>
            <a:ext cx="4038600" cy="297454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20078"/>
            <a:ext cx="4038600" cy="297454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B24D6-1E11-9B8D-2A7B-303FBED74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4D63D-A38E-D21F-6FDD-258911A890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421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588421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2780"/>
            <a:ext cx="4040188" cy="242184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8681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2780"/>
            <a:ext cx="4041775" cy="2421841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0F3520-4668-5160-9D48-14FCBC6834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638502-3F03-FAEC-8808-D870195B9A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423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E622F-9B88-692C-B632-3C3A3725D9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300B0-B723-6E83-41CD-38DE067D2B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8B4DA5-3E70-A227-A58C-73F5ADF294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F076CE-D268-5938-88D4-38648FEB0D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6325"/>
            <a:ext cx="5111750" cy="351829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A0EE5-E3AB-C008-7F2E-8BEB1B5955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26FB0C-DDCD-07F4-B10D-F1E2F1D255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0EE1A-8B24-04AA-2382-9CEA3A0EF4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A4D426-8F2A-FE25-2DF6-A7188C42F4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420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19629"/>
            <a:ext cx="8229600" cy="29749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504E7-10F7-4DCF-2F42-FBBAB4E76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EBABC-B106-5871-8D88-A4341B29A2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16225"/>
            <a:ext cx="2057400" cy="3978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16225"/>
            <a:ext cx="6019800" cy="3978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638EA-6789-9FBA-D5D9-080E527A00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06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5130A5-2A10-6583-AB72-27B923BA31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979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3612" y="4817097"/>
            <a:ext cx="523188" cy="2240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84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 defTabSz="1088279"/>
            <a:fld id="{C5EF2332-01BF-834F-8236-50238282D533}" type="slidenum">
              <a:rPr lang="en-US" smtClean="0"/>
              <a:pPr algn="r" defTabSz="1088279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42974" rtl="0" eaLnBrk="1" latinLnBrk="0" hangingPunct="1">
        <a:lnSpc>
          <a:spcPct val="85000"/>
        </a:lnSpc>
        <a:spcBef>
          <a:spcPct val="0"/>
        </a:spcBef>
        <a:buNone/>
        <a:defRPr lang="en-US" sz="3200" b="0" i="0" kern="1200" dirty="0">
          <a:solidFill>
            <a:schemeClr val="accent1"/>
          </a:solidFill>
          <a:latin typeface="National 2 Medium" charset="0"/>
          <a:ea typeface="+mj-ea"/>
          <a:cs typeface="+mj-cs"/>
        </a:defRPr>
      </a:lvl1pPr>
    </p:titleStyle>
    <p:bodyStyle>
      <a:lvl1pPr marL="342900" indent="-342900" algn="l" defTabSz="642974" rtl="0" eaLnBrk="1" latinLnBrk="0" hangingPunct="1">
        <a:spcBef>
          <a:spcPct val="20000"/>
        </a:spcBef>
        <a:buClr>
          <a:schemeClr val="accent1"/>
        </a:buClr>
        <a:buFont typeface="Arial" charset="0"/>
        <a:buChar char="•"/>
        <a:defRPr lang="en-US" sz="1600" b="0" i="0" kern="1200" dirty="0">
          <a:solidFill>
            <a:schemeClr val="accent1"/>
          </a:solidFill>
          <a:latin typeface="National 2" charset="0"/>
          <a:ea typeface="+mn-ea"/>
          <a:cs typeface="+mn-cs"/>
        </a:defRPr>
      </a:lvl1pPr>
      <a:lvl2pPr marL="685800" indent="-342900" algn="l" defTabSz="642974" rtl="0" eaLnBrk="1" latinLnBrk="0" hangingPunct="1">
        <a:spcBef>
          <a:spcPct val="20000"/>
        </a:spcBef>
        <a:buClr>
          <a:schemeClr val="accent1"/>
        </a:buClr>
        <a:buFont typeface="Arial" charset="0"/>
        <a:buChar char="•"/>
        <a:defRPr lang="en-US" sz="1600" b="0" i="0" kern="1200" dirty="0">
          <a:solidFill>
            <a:schemeClr val="accent1"/>
          </a:solidFill>
          <a:latin typeface="National 2" charset="0"/>
          <a:ea typeface="+mn-ea"/>
          <a:cs typeface="+mn-cs"/>
        </a:defRPr>
      </a:lvl2pPr>
      <a:lvl3pPr marL="1028700" indent="-342900" algn="l" defTabSz="642974" rtl="0" eaLnBrk="1" latinLnBrk="0" hangingPunct="1">
        <a:spcBef>
          <a:spcPct val="20000"/>
        </a:spcBef>
        <a:buClr>
          <a:schemeClr val="accent1"/>
        </a:buClr>
        <a:buFont typeface="Arial" charset="0"/>
        <a:buChar char="•"/>
        <a:defRPr lang="en-US" sz="1600" b="0" i="0" kern="1200" dirty="0">
          <a:solidFill>
            <a:schemeClr val="accent1"/>
          </a:solidFill>
          <a:latin typeface="National 2" charset="0"/>
          <a:ea typeface="+mn-ea"/>
          <a:cs typeface="+mn-cs"/>
        </a:defRPr>
      </a:lvl3pPr>
      <a:lvl4pPr marL="1371600" indent="-342900" algn="l" defTabSz="642974" rtl="0" eaLnBrk="1" latinLnBrk="0" hangingPunct="1">
        <a:spcBef>
          <a:spcPct val="20000"/>
        </a:spcBef>
        <a:buClr>
          <a:schemeClr val="accent1"/>
        </a:buClr>
        <a:buFont typeface="Arial" charset="0"/>
        <a:buChar char="•"/>
        <a:defRPr lang="en-US" sz="1600" b="0" i="0" kern="1200" dirty="0">
          <a:solidFill>
            <a:schemeClr val="accent1"/>
          </a:solidFill>
          <a:latin typeface="National 2" charset="0"/>
          <a:ea typeface="+mn-ea"/>
          <a:cs typeface="+mn-cs"/>
        </a:defRPr>
      </a:lvl4pPr>
      <a:lvl5pPr marL="1714500" indent="-342900" algn="l" defTabSz="642974" rtl="0" eaLnBrk="1" latinLnBrk="0" hangingPunct="1">
        <a:spcBef>
          <a:spcPct val="20000"/>
        </a:spcBef>
        <a:buClr>
          <a:schemeClr val="accent1"/>
        </a:buClr>
        <a:buFont typeface="Arial" charset="0"/>
        <a:buChar char="•"/>
        <a:defRPr lang="en-US" sz="1600" b="0" i="0" kern="1200" dirty="0">
          <a:solidFill>
            <a:schemeClr val="accent1"/>
          </a:solidFill>
          <a:latin typeface="National 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dartmouth.edu/api/v1/models" TargetMode="External"/><Relationship Id="rId2" Type="http://schemas.openxmlformats.org/officeDocument/2006/relationships/hyperlink" Target="https://developer.mozilla.org/en-US/docs/Web/HTTP/Guides/Overvie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form.claude.com/docs/en/api/messages/create" TargetMode="External"/><Relationship Id="rId3" Type="http://schemas.openxmlformats.org/officeDocument/2006/relationships/hyperlink" Target="https://developers.openai.com/api/reference/chat-completions/overview" TargetMode="External"/><Relationship Id="rId7" Type="http://schemas.openxmlformats.org/officeDocument/2006/relationships/hyperlink" Target="https://www.openresponses.org/" TargetMode="External"/><Relationship Id="rId2" Type="http://schemas.openxmlformats.org/officeDocument/2006/relationships/hyperlink" Target="https://developers.openai.com/api/reference/resources/chat/subresources/completions/methods/cre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responses.org/reference" TargetMode="External"/><Relationship Id="rId5" Type="http://schemas.openxmlformats.org/officeDocument/2006/relationships/hyperlink" Target="https://developers.openai.com/api/reference/responses/overview" TargetMode="External"/><Relationship Id="rId4" Type="http://schemas.openxmlformats.org/officeDocument/2006/relationships/hyperlink" Target="https://developers.openai.com/api/reference/resources/responses/methods/creat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293022"/>
            <a:ext cx="8218932" cy="156760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AI Agents from Scratch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007061"/>
            <a:ext cx="8218932" cy="1314450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lang="en-US" dirty="0"/>
              <a:t>Jonathan Crossett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658D-F9CD-112D-B318-46F5CC43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3645"/>
            <a:ext cx="8229600" cy="857250"/>
          </a:xfrm>
        </p:spPr>
        <p:txBody>
          <a:bodyPr anchor="ctr">
            <a:normAutofit/>
          </a:bodyPr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CB5B-F732-3F7C-75AD-AD2BDA07A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20078"/>
            <a:ext cx="5893628" cy="2974545"/>
          </a:xfrm>
        </p:spPr>
        <p:txBody>
          <a:bodyPr>
            <a:normAutofit/>
          </a:bodyPr>
          <a:lstStyle/>
          <a:p>
            <a:r>
              <a:rPr lang="en-US" dirty="0"/>
              <a:t>Started at Dartmouth in </a:t>
            </a:r>
            <a:r>
              <a:rPr lang="en-US" b="1" dirty="0"/>
              <a:t>2006</a:t>
            </a:r>
          </a:p>
          <a:p>
            <a:r>
              <a:rPr lang="en-US" dirty="0"/>
              <a:t>Work in </a:t>
            </a:r>
            <a:r>
              <a:rPr lang="en-US" b="1" dirty="0"/>
              <a:t>Research Computing &amp; Data </a:t>
            </a:r>
            <a:r>
              <a:rPr lang="en-US" dirty="0"/>
              <a:t>in </a:t>
            </a:r>
            <a:r>
              <a:rPr lang="en-US" b="1" dirty="0"/>
              <a:t>Research Cyberinfrastructure</a:t>
            </a:r>
          </a:p>
          <a:p>
            <a:r>
              <a:rPr lang="en-US" dirty="0"/>
              <a:t>Part of the team that setup and manages </a:t>
            </a:r>
            <a:r>
              <a:rPr lang="en-US" b="1" dirty="0"/>
              <a:t>Dartmouth Chat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B07C3-C1B1-26F5-8DD6-945FB2F8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3612" y="4817097"/>
            <a:ext cx="523188" cy="22401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D09EB-7CE0-F049-4F52-96D17B20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828" y="1620078"/>
            <a:ext cx="2335972" cy="23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7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4C26-27DC-BDC5-457C-C456AAEE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225E-F411-AB4E-7F73-49F0A39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955E-BD30-062B-2BE1-4A795DF80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communication protocol overview</a:t>
            </a:r>
          </a:p>
          <a:p>
            <a:r>
              <a:rPr lang="en-US" dirty="0"/>
              <a:t>Define an agent</a:t>
            </a:r>
          </a:p>
          <a:p>
            <a:r>
              <a:rPr lang="en-US" dirty="0"/>
              <a:t>Build-up an agent from scratch</a:t>
            </a:r>
          </a:p>
          <a:p>
            <a:r>
              <a:rPr lang="en-US" dirty="0"/>
              <a:t>Get the agent running on your computer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8A22F-53D4-12BE-A717-B4C10F07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5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A3D5C-A4BA-C44B-01A2-B20C6EA9E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05" y="1937073"/>
            <a:ext cx="6411990" cy="2098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5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HTTP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hlinkClick r:id="rId2"/>
              </a:rPr>
              <a:t>HTTP Overview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90FED-CDD4-F2EE-D88A-E8280D8FFFA1}"/>
              </a:ext>
            </a:extLst>
          </p:cNvPr>
          <p:cNvSpPr txBox="1"/>
          <p:nvPr/>
        </p:nvSpPr>
        <p:spPr>
          <a:xfrm>
            <a:off x="552451" y="2114106"/>
            <a:ext cx="3086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ptos" panose="020B0004020202020204" pitchFamily="34" charset="0"/>
                <a:cs typeface="Courier New" panose="02070309020205020404" pitchFamily="49" charset="0"/>
              </a:rPr>
              <a:t>GET REQUEST: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GET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/api/v1/models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HTTP/1.1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Host: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chat.dartmouth.edu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CEF29-FDD9-18CB-8687-17EE1669E7B1}"/>
              </a:ext>
            </a:extLst>
          </p:cNvPr>
          <p:cNvSpPr txBox="1"/>
          <p:nvPr/>
        </p:nvSpPr>
        <p:spPr>
          <a:xfrm>
            <a:off x="552451" y="2846533"/>
            <a:ext cx="349249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ptos" panose="020B0004020202020204" pitchFamily="34" charset="0"/>
                <a:cs typeface="Courier New" panose="02070309020205020404" pitchFamily="49" charset="0"/>
              </a:rPr>
              <a:t>GET RESPONSE: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HTTP/1.1 200 OK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Date: Tue, 02 Jun 2026 10:11:12 GMT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Server: nginx/1.31.1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Content-Length: 24194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Content-Encoding: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zstd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{"data":[{"id”..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1E2FC-9019-3F15-DD7C-8FFC266C3A5F}"/>
              </a:ext>
            </a:extLst>
          </p:cNvPr>
          <p:cNvSpPr txBox="1"/>
          <p:nvPr/>
        </p:nvSpPr>
        <p:spPr>
          <a:xfrm>
            <a:off x="4379914" y="1391433"/>
            <a:ext cx="43656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ptos" panose="020B0004020202020204" pitchFamily="34" charset="0"/>
                <a:cs typeface="Courier New" panose="02070309020205020404" pitchFamily="49" charset="0"/>
              </a:rPr>
              <a:t>POST REQUEST: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POST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/api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/chat/completions HTTP/1.1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Host: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chat.dartmouth.edu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Authorization: Bearer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-API-KEY-HERE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Content-Length: 283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{"model":"llama3","messages":[{"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role":"system","content":"You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are a helpful assistant."},{"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role":"user","content":"Hello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!"}]}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191E8-59D0-81EC-9535-2B6BED39F5BE}"/>
              </a:ext>
            </a:extLst>
          </p:cNvPr>
          <p:cNvSpPr txBox="1"/>
          <p:nvPr/>
        </p:nvSpPr>
        <p:spPr>
          <a:xfrm>
            <a:off x="4379914" y="3271125"/>
            <a:ext cx="446722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ptos" panose="020B0004020202020204" pitchFamily="34" charset="0"/>
                <a:cs typeface="Courier New" panose="02070309020205020404" pitchFamily="49" charset="0"/>
              </a:rPr>
              <a:t>POST RESPONSE: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HTTP/1.1 200 OK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application/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Date: Tue, 02 Jun 2026 10:39:41 GMT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Content-Length: 1276</a:t>
            </a:r>
            <a:b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{"id":"chatcmpl-379","object":"chat.completion",..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5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Inference server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Chat Completions API</a:t>
            </a:r>
          </a:p>
          <a:p>
            <a:pPr lvl="1"/>
            <a:r>
              <a:rPr dirty="0">
                <a:hlinkClick r:id="rId2"/>
              </a:rPr>
              <a:t>OpenAI </a:t>
            </a:r>
            <a:r>
              <a:rPr lang="en-US" dirty="0">
                <a:hlinkClick r:id="rId2"/>
              </a:rPr>
              <a:t>Chat Completions</a:t>
            </a:r>
            <a:endParaRPr dirty="0">
              <a:hlinkClick r:id="rId3"/>
            </a:endParaRPr>
          </a:p>
          <a:p>
            <a:pPr lvl="0"/>
            <a:r>
              <a:rPr dirty="0"/>
              <a:t>Responses API</a:t>
            </a:r>
          </a:p>
          <a:p>
            <a:pPr lvl="1"/>
            <a:r>
              <a:rPr dirty="0">
                <a:hlinkClick r:id="rId4"/>
              </a:rPr>
              <a:t>OpenAI Responses</a:t>
            </a:r>
            <a:endParaRPr dirty="0">
              <a:hlinkClick r:id="rId5"/>
            </a:endParaRPr>
          </a:p>
          <a:p>
            <a:pPr lvl="1"/>
            <a:r>
              <a:rPr dirty="0">
                <a:hlinkClick r:id="rId6"/>
              </a:rPr>
              <a:t>OpenResponses</a:t>
            </a:r>
            <a:r>
              <a:rPr lang="en-US" dirty="0">
                <a:hlinkClick r:id="rId6"/>
              </a:rPr>
              <a:t> Reference</a:t>
            </a:r>
            <a:endParaRPr dirty="0">
              <a:hlinkClick r:id="rId7"/>
            </a:endParaRPr>
          </a:p>
          <a:p>
            <a:pPr lvl="0"/>
            <a:r>
              <a:rPr dirty="0"/>
              <a:t>Message API</a:t>
            </a:r>
          </a:p>
          <a:p>
            <a:pPr lvl="1"/>
            <a:r>
              <a:rPr dirty="0">
                <a:hlinkClick r:id="rId8"/>
              </a:rPr>
              <a:t>Claude Message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55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System Prompt</a:t>
            </a:r>
          </a:p>
          <a:p>
            <a:pPr lvl="0"/>
            <a:r>
              <a:rPr dirty="0"/>
              <a:t>User Prompt</a:t>
            </a:r>
          </a:p>
          <a:p>
            <a:pPr lvl="0"/>
            <a:r>
              <a:rPr dirty="0"/>
              <a:t>Tools</a:t>
            </a:r>
            <a:endParaRPr lang="en-US" dirty="0"/>
          </a:p>
          <a:p>
            <a:pPr lvl="1"/>
            <a:r>
              <a:rPr lang="en-US" dirty="0"/>
              <a:t>The code that does the work</a:t>
            </a:r>
          </a:p>
          <a:p>
            <a:pPr lvl="1"/>
            <a:r>
              <a:rPr lang="en-US" dirty="0"/>
              <a:t>Definition of the tool (spec)</a:t>
            </a:r>
            <a:endParaRPr dirty="0"/>
          </a:p>
          <a:p>
            <a:pPr lvl="0"/>
            <a:r>
              <a:rPr dirty="0"/>
              <a:t>Agent loop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5EF2332-01BF-834F-8236-50238282D53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1 1">
      <a:dk1>
        <a:srgbClr val="000000"/>
      </a:dk1>
      <a:lt1>
        <a:srgbClr val="FFFFFF"/>
      </a:lt1>
      <a:dk2>
        <a:srgbClr val="797979"/>
      </a:dk2>
      <a:lt2>
        <a:srgbClr val="EEECE1"/>
      </a:lt2>
      <a:accent1>
        <a:srgbClr val="01683E"/>
      </a:accent1>
      <a:accent2>
        <a:srgbClr val="11312A"/>
      </a:accent2>
      <a:accent3>
        <a:srgbClr val="C4DD88"/>
      </a:accent3>
      <a:accent4>
        <a:srgbClr val="6DAA8D"/>
      </a:accent4>
      <a:accent5>
        <a:srgbClr val="797979"/>
      </a:accent5>
      <a:accent6>
        <a:srgbClr val="EAF3EE"/>
      </a:accent6>
      <a:hlink>
        <a:srgbClr val="00683D"/>
      </a:hlink>
      <a:folHlink>
        <a:srgbClr val="13312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264</Words>
  <Application>Microsoft Macintosh PowerPoint</Application>
  <PresentationFormat>On-screen Show (16:9)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Courier New</vt:lpstr>
      <vt:lpstr>National 2</vt:lpstr>
      <vt:lpstr>National 2 Medium</vt:lpstr>
      <vt:lpstr>Office Theme</vt:lpstr>
      <vt:lpstr>AI Agents from Scratch</vt:lpstr>
      <vt:lpstr>Who am I?</vt:lpstr>
      <vt:lpstr>What to expect</vt:lpstr>
      <vt:lpstr>Architecture</vt:lpstr>
      <vt:lpstr>HTTP Protocol</vt:lpstr>
      <vt:lpstr>Inference server APIs</vt:lpstr>
      <vt:lpstr>Agent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37</TotalTime>
  <Words>49</Words>
  <Application>Microsoft Macintosh PowerPoint</Application>
  <PresentationFormat>On-screen Show (16:9)</PresentationFormat>
  <Paragraphs>17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National 2</vt:lpstr>
      <vt:lpstr>National 2 Medium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 Servers and Agents</dc:title>
  <dc:creator>AI Assistant</dc:creator>
  <cp:keywords/>
  <cp:lastModifiedBy>Jonathan Crossett</cp:lastModifiedBy>
  <cp:revision>5</cp:revision>
  <dcterms:created xsi:type="dcterms:W3CDTF">2026-06-02T09:52:11Z</dcterms:created>
  <dcterms:modified xsi:type="dcterms:W3CDTF">2026-06-02T11:08:24Z</dcterms:modified>
</cp:coreProperties>
</file>